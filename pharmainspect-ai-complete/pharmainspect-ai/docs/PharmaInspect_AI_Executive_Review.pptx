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ptos"/>
              </a:rPr>
              <a:t>PHARMAINSPECT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7498079" cy="1463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Architecture and
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063240"/>
            <a:ext cx="713232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BAE6FD"/>
                </a:solidFill>
                <a:latin typeface="Aptos"/>
              </a:rPr>
              <a:t>Human-in-the-loop pharmaceutical packaging inspection
with retrieval-grounded visual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75488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489204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ptos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537667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RELEVANCE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2" y="475488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489204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Aptos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537667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ACCEPTANCE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75488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489204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537667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FINAL 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6245352"/>
            <a:ext cx="6400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Current-state review and production roadmap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 complete prototype workflow with a clear production-readiness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64008" cy="3383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What exists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3154680" cy="2697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Batch creation and image upload
Good-image vector retrieval
Invalid / fail / pass separation
Explainable image evidence
Human review and PDF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64008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30552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32888"/>
            <a:ext cx="3154680" cy="2697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Focus inspectors on exceptions
Standardize first-pass screening
Preserve image-to-disposition traceability
Reduce generic AI explanations
Create reusable structured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64008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30552"/>
            <a:ext cx="31546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8"/>
            <a:ext cx="3154680" cy="2697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Proceed with a controlled pilot
Measure false accepts and rejects
Add persistent governed data
Validate model and references
Complete security and GxP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Business problem and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Inspection support must improve consistency without transferring release authority to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03520" cy="3566160"/>
          </a:xfrm>
          <a:prstGeom prst="roundRect">
            <a:avLst/>
          </a:prstGeom>
          <a:solidFill>
            <a:srgbClr val="FEF2F2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64008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93775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78608"/>
            <a:ext cx="4937759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• Repetitive visual screening and reviewer fatigue
• Evidence scattered across images, notes, and reports
• Invalid uploads can distort quality metrics
• Generic failure wording reduces trust
• Batch decisions require attributable 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3566160"/>
          </a:xfrm>
          <a:prstGeom prst="roundRect">
            <a:avLst/>
          </a:prstGeom>
          <a:solidFill>
            <a:srgbClr val="ECFDF5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64008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76272"/>
            <a:ext cx="493775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78608"/>
            <a:ext cx="4937759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• Consistent first-pass screening
• Retrieval against approved good examples
• Explainable image-level evidence
• Prioritized human review queue
• Faster report preparation
• Structured data for trends and CAPA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Current solution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Implemented workflow, explicit controls, and deliberate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747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" cy="388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3108960" cy="3200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Batch and image workflow
Reference-vector retrieval
Feature-level explanations
Scoped quality assistant
Human review and disposition
Dashboard and PDF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747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64008" cy="388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Safety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87168"/>
            <a:ext cx="3108960" cy="3200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50% relevance gate
90% acceptance gate
Invalid images excluded from KPIs
Unknown entities are not guessed
Assistant scope refusal
Human decision remains authoritative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4747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64008" cy="388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Not yet 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87168"/>
            <a:ext cx="3108960" cy="3200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No persistent database
No enterprise identity or RBAC
No immutable audit trail
No e-signature
No validated defect model
No HA / DR or formal CSV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Current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Ports-and-adapters structure keeps vision, storage, reporting, and assistant components replaceable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938528"/>
            <a:ext cx="9921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938528"/>
            <a:ext cx="64008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2103120"/>
            <a:ext cx="95554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73957"/>
                </a:solidFill>
                <a:latin typeface="Aptos"/>
              </a:rPr>
              <a:t>React Quality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505456"/>
            <a:ext cx="9555480" cy="18287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Dashboard • Batch creation • Evidence • Review •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971800"/>
            <a:ext cx="9921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971800"/>
            <a:ext cx="64008" cy="868680"/>
          </a:xfrm>
          <a:prstGeom prst="rect">
            <a:avLst/>
          </a:prstGeom>
          <a:solidFill>
            <a:srgbClr val="0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136392"/>
            <a:ext cx="95554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73957"/>
                </a:solidFill>
                <a:latin typeface="Aptos"/>
              </a:rPr>
              <a:t>FastAPI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538728"/>
            <a:ext cx="9555480" cy="18287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REST routes • Batch service • Metrics • Scope guard • Report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05072"/>
            <a:ext cx="9921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005072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4169663"/>
            <a:ext cx="95554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73957"/>
                </a:solidFill>
                <a:latin typeface="Aptos"/>
              </a:rPr>
              <a:t>Infrastructure Adapters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572000"/>
            <a:ext cx="9555480" cy="18287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Image RAG • Vector index • Repository • Assistant • 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38344"/>
            <a:ext cx="9921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38344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5202936"/>
            <a:ext cx="95554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73957"/>
                </a:solidFill>
                <a:latin typeface="Aptos"/>
              </a:rPr>
              <a:t>Local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605272"/>
            <a:ext cx="9555480" cy="18287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Approved image directory • In-memory batch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6144768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ptos"/>
              </a:rPr>
              <a:t>Replaceable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End-to-end inspection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One evidence chain from batch context to human disposition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621792" cy="6217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Create batch</a:t>
            </a:r>
          </a:p>
        </p:txBody>
      </p:sp>
      <p:sp>
        <p:nvSpPr>
          <p:cNvPr id="9" name="Chevron 8"/>
          <p:cNvSpPr/>
          <p:nvPr/>
        </p:nvSpPr>
        <p:spPr>
          <a:xfrm>
            <a:off x="1289304" y="2441448"/>
            <a:ext cx="804672" cy="384048"/>
          </a:xfrm>
          <a:prstGeom prst="chevron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4872" y="2331720"/>
            <a:ext cx="621792" cy="6217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Upload images</a:t>
            </a:r>
          </a:p>
        </p:txBody>
      </p:sp>
      <p:sp>
        <p:nvSpPr>
          <p:cNvPr id="13" name="Chevron 12"/>
          <p:cNvSpPr/>
          <p:nvPr/>
        </p:nvSpPr>
        <p:spPr>
          <a:xfrm>
            <a:off x="3191256" y="2441448"/>
            <a:ext cx="804672" cy="384048"/>
          </a:xfrm>
          <a:prstGeom prst="chevron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2331720"/>
            <a:ext cx="621792" cy="621792"/>
          </a:xfrm>
          <a:prstGeom prst="ellipse">
            <a:avLst/>
          </a:prstGeom>
          <a:solidFill>
            <a:srgbClr val="0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Vectorize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5093208" y="2441448"/>
            <a:ext cx="804672" cy="384048"/>
          </a:xfrm>
          <a:prstGeom prst="chevron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08776" y="2331720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Retrieve good refs</a:t>
            </a:r>
          </a:p>
        </p:txBody>
      </p:sp>
      <p:sp>
        <p:nvSpPr>
          <p:cNvPr id="21" name="Chevron 20"/>
          <p:cNvSpPr/>
          <p:nvPr/>
        </p:nvSpPr>
        <p:spPr>
          <a:xfrm>
            <a:off x="6995160" y="2441448"/>
            <a:ext cx="804672" cy="384048"/>
          </a:xfrm>
          <a:prstGeom prst="chevron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10728" y="2331720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Classify outcome</a:t>
            </a:r>
          </a:p>
        </p:txBody>
      </p:sp>
      <p:sp>
        <p:nvSpPr>
          <p:cNvPr id="25" name="Chevron 24"/>
          <p:cNvSpPr/>
          <p:nvPr/>
        </p:nvSpPr>
        <p:spPr>
          <a:xfrm>
            <a:off x="8897112" y="2441448"/>
            <a:ext cx="804672" cy="384048"/>
          </a:xfrm>
          <a:prstGeom prst="chevron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2331720"/>
            <a:ext cx="621792" cy="6217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2441448"/>
            <a:ext cx="6217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3127248"/>
            <a:ext cx="11430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Human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343400"/>
            <a:ext cx="10241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" y="434340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4507992"/>
            <a:ext cx="987551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Authoritative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910328"/>
            <a:ext cx="9875519" cy="3657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Structured result → batch metrics → inspector notes → root cause → corrective action → approve / hold / reject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Image RAG and decision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Retrieval-grounded one-class anomaly detection using approved good-image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64008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66544"/>
            <a:ext cx="23774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Vector 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68880"/>
            <a:ext cx="237744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35% color histogram
40% luminance structure
25% edge energy
Normalized cosine 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01952"/>
            <a:ext cx="2423160" cy="2011680"/>
          </a:xfrm>
          <a:prstGeom prst="roundRect">
            <a:avLst/>
          </a:prstGeom>
          <a:solidFill>
            <a:srgbClr val="FFFBEB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901952"/>
            <a:ext cx="64008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066544"/>
            <a:ext cx="20574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68880"/>
            <a:ext cx="205740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&lt; 50% relevance
Rejected before defect assessment
Excluded from quality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01952"/>
            <a:ext cx="242316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01952"/>
            <a:ext cx="64008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066544"/>
            <a:ext cx="20574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468880"/>
            <a:ext cx="205740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50% to &lt; 90%
Valid packaging image
Human review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901952"/>
            <a:ext cx="2423160" cy="2011680"/>
          </a:xfrm>
          <a:prstGeom prst="roundRect">
            <a:avLst/>
          </a:prstGeom>
          <a:solidFill>
            <a:srgbClr val="ECFDF5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901952"/>
            <a:ext cx="6400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2066544"/>
            <a:ext cx="20574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468880"/>
            <a:ext cx="205740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≥ 90% similarity
Consistent with approved corpus
Human authority retained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10698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64008" cy="1143000"/>
          </a:xfrm>
          <a:prstGeom prst="rect">
            <a:avLst/>
          </a:prstGeom>
          <a:solidFill>
            <a:srgbClr val="0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416552"/>
            <a:ext cx="10332719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Production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818888"/>
            <a:ext cx="10332719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Current retrieval is explainable and local. Production requires SKU-specific calibration, labeled defect data, governed reference versions, and a validated vision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Explainability and invalid-image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system reports measurable reasons and protects metric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Aptos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EXAMPLE RANDOM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659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8775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MINIMUM RELEVANCE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9659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Aptos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8775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PASS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9659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103120"/>
            <a:ext cx="1874519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587752"/>
            <a:ext cx="187451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KPI IMPACT IF INVALID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64008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93592"/>
            <a:ext cx="4846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Failure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8"/>
            <a:ext cx="484632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Overall threshold shortfall
Package or label structural mismatch
Package or seal edge mismatch
Packaging or label color mismatch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2900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29000"/>
            <a:ext cx="6400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593592"/>
            <a:ext cx="48463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Invalid-image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995928"/>
            <a:ext cx="484632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Distinct “Invalid image” status
No defect assessment
Excluded from pass/fail and defect counts
Assistant explains the exclusion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Grounded AI Quality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Structured retrieval and deterministic guardrails prevent generic or unrelated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3566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30175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3017520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Stored batch records
Exact image inspection results
Quality metrics
Human review fields
Named batch and filename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64008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84832"/>
            <a:ext cx="30175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3017520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Pharma-inspection scope check
Out-of-scope refusal
Unknown entity response
Requested-image-only answer
No hidden reference filenames in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64008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84832"/>
            <a:ext cx="30175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TCS model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87168"/>
            <a:ext cx="3017520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TCS GenAI Lab endpoint
DeepSeek V3 chat model
Structured JSON grounding
Environment-only API key
Transparent local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Human review and compliance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workflow supports quality decisions; it is not yet a validated release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57800" cy="3566160"/>
          </a:xfrm>
          <a:prstGeom prst="roundRect">
            <a:avLst/>
          </a:prstGeom>
          <a:solidFill>
            <a:srgbClr val="ECFDF5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48920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Controls already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4892040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• Human disposition remains authoritative
• Structured notes, cause, and corrective action
• Explicit invalid-image handling
• Explainable thresholds and scores
• Input MIME and size controls
• Automated regression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57800" cy="3566160"/>
          </a:xfrm>
          <a:prstGeom prst="roundRect">
            <a:avLst/>
          </a:prstGeom>
          <a:solidFill>
            <a:srgbClr val="FFFBEB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64008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84832"/>
            <a:ext cx="489204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Required before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87168"/>
            <a:ext cx="4892040" cy="2880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• SSO, RBAC, and attributable identity
• Immutable audit trail and e-signature
• Persistent data and retention controls
• Model/reference lifecycle governance
• Security, performance, and recovery testing
• Formal CSV and traceability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KPI and value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Pilot value must be measured against an agreed operational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" cy="3429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Quality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False accept rate
False reject rate
Invalid-image precision
Reviewer override rate
Confidence calibration
Defect precision /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64008" cy="3429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Operational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87168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Seconds saved per image
Review time per batch
Escalation rate
Batches per reviewer
Upload-to-disposition time
Report preparation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64008" cy="3429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84832"/>
            <a:ext cx="31089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73957"/>
                </a:solidFill>
                <a:latin typeface="Aptos"/>
              </a:rPr>
              <a:t>Value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87168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Labor capacity benefit
+
Avoided quality-event value
−
Platform and operating cost
=
Net annual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79008"/>
            <a:ext cx="9784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No ROI claim should be approved until baseline and pilot measurements are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RISK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Key risks and production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largest risks are data quality, governance, and operational controls—not UI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0824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Good-only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7788" y="2020824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May miss defect diversity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874519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1874519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020824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2020824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Add labeled bad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69463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69463"/>
            <a:ext cx="64008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Imaging variation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7788" y="2715768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Similarity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569463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2569463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715768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2715768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Control camera and lighting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64407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264407"/>
            <a:ext cx="64008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410711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Global thresholds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7788" y="3410711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Uneven SKU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264407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3264407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3410711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410711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Calibrate per product/line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59351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959351"/>
            <a:ext cx="64008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105655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In-memory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7788" y="4105655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Evidence lost on restart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3959351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959351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4105655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4105655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Persistent database/storage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654295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654295"/>
            <a:ext cx="64008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800599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Uncontrolled refs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7788" y="4800599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Untraceable decisions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4654295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6200" y="4654295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80" y="4800599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6712" y="4800599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Versioned approval workflow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349239"/>
            <a:ext cx="3017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5349239"/>
            <a:ext cx="64008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495543"/>
            <a:ext cx="102595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73957"/>
                </a:solidFill>
                <a:latin typeface="Aptos"/>
              </a:rPr>
              <a:t>No audit/RBAC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7788" y="5495543"/>
            <a:ext cx="1552651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Compliance exposure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86200" y="5349239"/>
            <a:ext cx="7543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86200" y="5349239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5495543"/>
            <a:ext cx="155448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073957"/>
                </a:solidFill>
                <a:latin typeface="Aptos"/>
              </a:rPr>
              <a:t>Mitigation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96712" y="5495543"/>
            <a:ext cx="5550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Identity, roles, immutable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Production 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Durable, governed, observable, and horizontally scalable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Enterprise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7451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7568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Gateway / WAF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7451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07568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React web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3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7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Inspection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83463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7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03580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Analysis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834639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7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03580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Vision workers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Relational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79476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99592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Object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79476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99592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Vector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8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Audit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75488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95604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Model 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4754880"/>
            <a:ext cx="3246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956048"/>
            <a:ext cx="3063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73957"/>
                </a:solidFill>
                <a:latin typeface="Aptos"/>
              </a:rPr>
              <a:t>Logs / metrics / traces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806440"/>
            <a:ext cx="10058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5806440"/>
            <a:ext cx="64008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39" y="5952744"/>
            <a:ext cx="1554480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073957"/>
                </a:solidFill>
                <a:latin typeface="Aptos"/>
              </a:rPr>
              <a:t>Governance plane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2072" y="5952744"/>
            <a:ext cx="8065008" cy="3017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Reference approvals • model validation • security policy • retention • change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073957"/>
                </a:solidFill>
                <a:latin typeface="Aptos"/>
              </a:rPr>
              <a:t>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Move from workflow validation to controlled production in measurable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673352"/>
            <a:ext cx="10972800" cy="228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6517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4008" cy="3429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21992"/>
            <a:ext cx="22860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73957"/>
                </a:solidFill>
                <a:latin typeface="Aptos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24328"/>
            <a:ext cx="228600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Workflow complete
Image RAG
Explainability
Human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50992"/>
            <a:ext cx="2377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EA5E9"/>
                </a:solidFill>
                <a:latin typeface="Aptos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26517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57400"/>
            <a:ext cx="64008" cy="3429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221992"/>
            <a:ext cx="22860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73957"/>
                </a:solidFill>
                <a:latin typeface="Aptos"/>
              </a:rPr>
              <a:t>Controlled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24328"/>
            <a:ext cx="228600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Persistent data
Auth and roles
Labeled evaluation set
Pilot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5650992"/>
            <a:ext cx="2377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0–3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57400"/>
            <a:ext cx="26517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57400"/>
            <a:ext cx="64008" cy="3429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221992"/>
            <a:ext cx="22860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73957"/>
                </a:solidFill>
                <a:latin typeface="Aptos"/>
              </a:rPr>
              <a:t>Production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624328"/>
            <a:ext cx="228600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Validated model
Audit trail
Reference governance
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650992"/>
            <a:ext cx="2377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3–6 months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57400"/>
            <a:ext cx="26517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057400"/>
            <a:ext cx="64008" cy="3429000"/>
          </a:xfrm>
          <a:prstGeom prst="rect">
            <a:avLst/>
          </a:prstGeom>
          <a:solidFill>
            <a:srgbClr val="0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221992"/>
            <a:ext cx="22860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73957"/>
                </a:solidFill>
                <a:latin typeface="Aptos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624328"/>
            <a:ext cx="228600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Multiple lines/SKUs
MES/QMS integration
MLOps and drift
HA / 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5650992"/>
            <a:ext cx="23774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73957"/>
                </a:solidFill>
                <a:latin typeface="Aptos"/>
              </a:rPr>
              <a:t>6–12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603504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PharmaInspect AI | Architecture and Business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4114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ptos"/>
              </a:rPr>
              <a:t>DECISIONS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48640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must be agreed
before the pilot starts?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5669280" cy="30632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Intended use and decision authority</a:t>
            </a:r>
          </a:p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Pilot product, SKU, line, and camera setup</a:t>
            </a:r>
          </a:p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False-accept and false-reject tolerances</a:t>
            </a:r>
          </a:p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Reference-image ownership and approval</a:t>
            </a:r>
          </a:p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Labeled defect data and taxonomy</a:t>
            </a:r>
          </a:p>
          <a:p>
            <a:pPr>
              <a:spcAft>
                <a:spcPts val="1000"/>
              </a:spcAft>
              <a:defRPr sz="1400">
                <a:solidFill>
                  <a:srgbClr val="E0F2FE"/>
                </a:solidFill>
                <a:latin typeface="Aptos"/>
              </a:defRPr>
            </a:pPr>
            <a:r>
              <a:t>•  Security, retention, audit, and validation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234440"/>
            <a:ext cx="4526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1234440"/>
            <a:ext cx="6400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1399032"/>
            <a:ext cx="41605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73957"/>
                </a:solidFill>
                <a:latin typeface="Aptos"/>
              </a:rPr>
              <a:t>Recommended immediate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801368"/>
            <a:ext cx="4160520" cy="3703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Approve a controlled pilot charter.
Select one packaging family and imaging station.
Collect adjudicated good and defective examples.
Measure accuracy, review time, and override rates.
Use results to approve—or stop—the production investment.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PharmaInspect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